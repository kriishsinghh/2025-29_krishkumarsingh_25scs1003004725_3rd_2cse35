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rPr dirty="0" err="1"/>
              <a:t>IILM</a:t>
            </a:r>
            <a:r>
              <a:rPr dirty="0"/>
              <a:t> UNIVERSITY | DEPARTMENT OF COMPUTER SCIENCE &amp; ENGINEERING</a:t>
            </a:r>
          </a:p>
          <a:p>
            <a:pPr>
              <a:defRPr sz="1200">
                <a:solidFill>
                  <a:srgbClr val="C8D6E5"/>
                </a:solidFill>
              </a:defRPr>
            </a:pPr>
            <a:r>
              <a:rPr dirty="0"/>
              <a:t>In Collaboration with Cisco Networking Academy &amp; </a:t>
            </a:r>
            <a:r>
              <a:rPr dirty="0" err="1"/>
              <a:t>AICTE</a:t>
            </a:r>
            <a:r>
              <a:rPr dirty="0"/>
              <a:t> Virtual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NetSage AI</a:t>
            </a:r>
          </a:p>
          <a:p>
            <a:pPr>
              <a:spcBef>
                <a:spcPts val="600"/>
              </a:spcBef>
              <a:defRPr sz="2000">
                <a:solidFill>
                  <a:srgbClr val="00B4D8"/>
                </a:solidFill>
              </a:defRPr>
            </a:pPr>
            <a:r>
              <a:t>AI-Assisted Network Troubleshooting Helper with Human-in-the-Loop Review</a:t>
            </a:r>
          </a:p>
          <a:p>
            <a:pPr>
              <a:spcBef>
                <a:spcPts val="800"/>
              </a:spcBef>
              <a:defRPr sz="1300">
                <a:solidFill>
                  <a:srgbClr val="C8D6E5"/>
                </a:solidFill>
              </a:defRPr>
            </a:pPr>
            <a:r>
              <a:t>An intelligent diagnostic assistant parsing Cisco IOS symptoms, show-command outputs, and deterministic rules with structured LLM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327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rPr dirty="0"/>
              <a:t>STUDENT &amp; ACADEMIC DETAILS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Student Name: Krish </a:t>
            </a:r>
            <a:r>
              <a:rPr lang="en-US" dirty="0"/>
              <a:t>Kumar Singh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Enrollment No.: </a:t>
            </a:r>
            <a:r>
              <a:rPr dirty="0" err="1"/>
              <a:t>25SCS1003004725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Program &amp; Sem: </a:t>
            </a:r>
            <a:r>
              <a:rPr dirty="0" err="1"/>
              <a:t>B.Tech</a:t>
            </a:r>
            <a:r>
              <a:rPr dirty="0"/>
              <a:t> Computer Science , Sem </a:t>
            </a:r>
            <a:r>
              <a:rPr lang="en-US" dirty="0"/>
              <a:t>3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University: </a:t>
            </a:r>
            <a:r>
              <a:rPr dirty="0" err="1"/>
              <a:t>IILM</a:t>
            </a:r>
            <a:r>
              <a:rPr dirty="0"/>
              <a:t> University, Greater Noida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1327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rPr dirty="0"/>
              <a:t>INTERNSHIP &amp; ORGANIZATION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Host Organization: Cisco Systems &amp; </a:t>
            </a:r>
            <a:r>
              <a:rPr dirty="0" err="1"/>
              <a:t>AICTE</a:t>
            </a:r>
            <a:r>
              <a:rPr dirty="0"/>
              <a:t> (</a:t>
            </a:r>
            <a:r>
              <a:rPr dirty="0" err="1"/>
              <a:t>EduSkills</a:t>
            </a:r>
            <a:r>
              <a:rPr dirty="0"/>
              <a:t> Foundation)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Course Track: Modern AI / Applied AI + Network Troubleshooting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Project Domain: Computer Networking &amp; Generative AI Diagnostics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• Submission Date:</a:t>
            </a:r>
            <a:r>
              <a:rPr lang="en-US" dirty="0"/>
              <a:t> 30th</a:t>
            </a:r>
            <a:r>
              <a:rPr dirty="0"/>
              <a:t> August 2026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7CB38FEF-70E4-CE9C-22AB-8F688103F53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997F4F-1496-2985-78B7-B2F7F5E26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83" y="692943"/>
            <a:ext cx="210917" cy="247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The Network Engineering Challenge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Junior network engineers frequently know individual Cisco IOS commands but struggle to connect symptoms to root causes.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Symptom Ambiguity: When a host cannot reach a gateway or server, is the issue VLAN configuration, Subnet Mismatch, NAT, ACL, or Routing?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High </a:t>
            </a:r>
            <a:r>
              <a:rPr dirty="0" err="1"/>
              <a:t>MTTR</a:t>
            </a:r>
            <a:r>
              <a:rPr dirty="0"/>
              <a:t> (Mean Time to Resolution) due to trial-and-error debugging and manual inspection of extensive configuration files.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Risk of LLM Hallucinations: Standard generative AI models can invent commands or misdiagnose network states if not grounded by evidence.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Human Safety Requirement: Enterprise networks demand a Human-in-the-Loop review before applying configuration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</a:t>
            </a:r>
            <a:r>
              <a:rPr dirty="0" err="1"/>
              <a:t>NetSage</a:t>
            </a:r>
            <a:r>
              <a:rPr dirty="0"/>
              <a:t> AI Solution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In One Sentence: An AI-assisted troubleshooter reading symptoms and show-command outputs, proposing evidence-backed fixes, with human review.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Dual-Engine Architecture: Combines deterministic Python rule-checking (regex) with Google Gemini 2.5 Flash LLM structured prompts.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Strict JSON Schema: Forces outputs to contain </a:t>
            </a:r>
            <a:r>
              <a:rPr dirty="0" err="1"/>
              <a:t>root_cause</a:t>
            </a:r>
            <a:r>
              <a:rPr dirty="0"/>
              <a:t>, confidence, evidence, </a:t>
            </a:r>
            <a:r>
              <a:rPr dirty="0" err="1"/>
              <a:t>next_command</a:t>
            </a:r>
            <a:r>
              <a:rPr dirty="0"/>
              <a:t>, and </a:t>
            </a:r>
            <a:r>
              <a:rPr dirty="0" err="1"/>
              <a:t>fix_steps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Responsible AI Log: Mandatory tracking of accepted, edited, and rejected diagnoses across all 32 lab scenarios.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Interactive CLI &amp; Batch Engine: Real-time interactive troubleshooting mode for live lab demos and batch processing for performance telemetry.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28B6FCE8-1A14-60E8-5765-4B1CE8B43BD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1. Input &amp; Rule Check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Symptom &amp; Show Command Capture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Deterministic Regex Rules (checker.py):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Duplicate IP detection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Missing VLAN definitions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Admin Shutdown interfaces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Invalid Subnet Masks (/32, etc.)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Missing Default Routes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Fast-path detection without LLM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2. Structured AI Reasoning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Google GenAI SDK (Gemini 2.5)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Prompt Library (diagnose_prompt.md)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Few-shot worked examples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Strict JSON Enforcement: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root_cause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confidence score (High/Med/Low)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show-command evidence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next_command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fix_steps (exact IOS commands)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3. Human Review &amp;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Human-in-the-Loop Gatekeeper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Review Options: Accepted / Edited / Rejected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Responsible AI Audit Logging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Cisco Packet Tracer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Automated Dashboard Generation: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matplotlib telemetry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Issue distribution charts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Agreement rate analytics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1B543E81-EDB5-D6BF-5C88-DDC2CE2CF3C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Curated Troubleshooting Dataset (cases.csv)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32 Lab Scenarios &amp; Multi-Layer Coverage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Comprehensive coverage across OSI Layers 1, 2, 3, 4, and 7: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VLAN &amp; </a:t>
            </a:r>
            <a:r>
              <a:rPr dirty="0" err="1"/>
              <a:t>Trunking</a:t>
            </a:r>
            <a:r>
              <a:rPr dirty="0"/>
              <a:t> (6 Cases): Native VLAN mismatch, missing trunk VLANs, incorrect access assignment, voice VLAN.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Default Gateway &amp; </a:t>
            </a:r>
            <a:r>
              <a:rPr dirty="0" err="1"/>
              <a:t>HSRP</a:t>
            </a:r>
            <a:r>
              <a:rPr dirty="0"/>
              <a:t> (4 Cases): Gateway mismatch, ARP resolution failure, </a:t>
            </a:r>
            <a:r>
              <a:rPr dirty="0" err="1"/>
              <a:t>HSRP</a:t>
            </a:r>
            <a:r>
              <a:rPr dirty="0"/>
              <a:t> active/standby preemption.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DHCP &amp; Relay (4 Cases): Pool exhaustion, rogue DHCP server, missing </a:t>
            </a:r>
            <a:r>
              <a:rPr dirty="0" err="1"/>
              <a:t>ip</a:t>
            </a:r>
            <a:r>
              <a:rPr dirty="0"/>
              <a:t> helper-address, option 6 (DNS) error.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DNS Resolution (3 Cases): Name-server unreachable, domain-lookup disabled, DNS latency.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Routing Protocols (5 Cases): OSPF </a:t>
            </a:r>
            <a:r>
              <a:rPr dirty="0" err="1"/>
              <a:t>MTU</a:t>
            </a:r>
            <a:r>
              <a:rPr dirty="0"/>
              <a:t> mismatch / timer mismatch, </a:t>
            </a:r>
            <a:r>
              <a:rPr dirty="0" err="1"/>
              <a:t>EIGRP</a:t>
            </a:r>
            <a:r>
              <a:rPr dirty="0"/>
              <a:t> AS mismatch, floating static route AD.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Security &amp; ACL (4 Cases): </a:t>
            </a:r>
            <a:r>
              <a:rPr dirty="0" err="1"/>
              <a:t>VTY</a:t>
            </a:r>
            <a:r>
              <a:rPr dirty="0"/>
              <a:t> line SSH blocking, implicit deny dropping ping, standard ACL placement.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NAT &amp; PAT (3 Cases): Missing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nat</a:t>
            </a:r>
            <a:r>
              <a:rPr dirty="0"/>
              <a:t> inside/outside, ACL NAT filter </a:t>
            </a:r>
            <a:r>
              <a:rPr dirty="0" err="1"/>
              <a:t>misconfig</a:t>
            </a:r>
            <a:r>
              <a:rPr dirty="0"/>
              <a:t>, static 1-to-1 NAT inside local IP.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Wireless LAN (3 Cases): Guest isolation failure, </a:t>
            </a:r>
            <a:r>
              <a:rPr dirty="0" err="1"/>
              <a:t>WPA2</a:t>
            </a:r>
            <a:r>
              <a:rPr dirty="0"/>
              <a:t>-Enterprise auth failure, WLC management VLAN.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Schem</a:t>
            </a:r>
            <a:r>
              <a:rPr lang="en-US" dirty="0"/>
              <a:t>e</a:t>
            </a:r>
            <a:r>
              <a:rPr dirty="0"/>
              <a:t> Structure &amp; Evidence Mapping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Each case in </a:t>
            </a:r>
            <a:r>
              <a:rPr dirty="0" err="1"/>
              <a:t>cases.csv</a:t>
            </a:r>
            <a:r>
              <a:rPr dirty="0"/>
              <a:t> contains 6 key attributes: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1. symptom: Real-world engineer description ('PC gets IP but cannot reach VLAN 30 server').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2. </a:t>
            </a:r>
            <a:r>
              <a:rPr dirty="0" err="1"/>
              <a:t>show_outputs</a:t>
            </a:r>
            <a:r>
              <a:rPr dirty="0"/>
              <a:t>: Exact Cisco IOS output (show </a:t>
            </a:r>
            <a:r>
              <a:rPr dirty="0" err="1"/>
              <a:t>ip</a:t>
            </a:r>
            <a:r>
              <a:rPr dirty="0"/>
              <a:t> route, show </a:t>
            </a:r>
            <a:r>
              <a:rPr dirty="0" err="1"/>
              <a:t>ip</a:t>
            </a:r>
            <a:r>
              <a:rPr dirty="0"/>
              <a:t> int brief, show access-lists).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3. </a:t>
            </a:r>
            <a:r>
              <a:rPr dirty="0" err="1"/>
              <a:t>expected_fault</a:t>
            </a:r>
            <a:r>
              <a:rPr dirty="0"/>
              <a:t>: Ground-truth root cause for benchmark comparison.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4. </a:t>
            </a:r>
            <a:r>
              <a:rPr dirty="0" err="1"/>
              <a:t>osi_layer</a:t>
            </a:r>
            <a:r>
              <a:rPr dirty="0"/>
              <a:t>: Mapped OSI Layer (Layer 2, Layer 3, Layer 4, Layer 7).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5. concept: Technology domain tag (VLAN, Routing, NAT, ACL, DHCP, Wireless).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6. severity: Impact level (Critical, High, Medium, Low).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5FD5AA76-0D79-CC28-A8DE-794AB4BBA2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Deterministic Rule Engine (checker.py)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Why Deterministic Checks Matter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Instant Execution: Evaluates raw router/switch configs in sub-millisecond time before invoking LLM APIs.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Zero API Cost: Eliminates unnecessary token costs for obvious syntax and configuration errors.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100% Accuracy: Eliminates hallucination risks for mathematical and structural configuration rules.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Pre-Diagnosis &amp; Post-Diagnosis Safeguards: Verifies whether AI-suggested commands introduce duplicate IPs or syntax flaws.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Implemented Rule Algorithms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1. </a:t>
            </a:r>
            <a:r>
              <a:rPr dirty="0" err="1"/>
              <a:t>check_duplicate_ip</a:t>
            </a:r>
            <a:r>
              <a:rPr dirty="0"/>
              <a:t>(config): Uses regex extraction to detect identical IP assignments across multiple interfaces.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2. </a:t>
            </a:r>
            <a:r>
              <a:rPr dirty="0" err="1"/>
              <a:t>check_missing_vlan</a:t>
            </a:r>
            <a:r>
              <a:rPr dirty="0"/>
              <a:t>(config): Cross-references switchport access </a:t>
            </a:r>
            <a:r>
              <a:rPr dirty="0" err="1"/>
              <a:t>vlan</a:t>
            </a:r>
            <a:r>
              <a:rPr dirty="0"/>
              <a:t> &lt;ID&gt; with defined </a:t>
            </a:r>
            <a:r>
              <a:rPr dirty="0" err="1"/>
              <a:t>vlan</a:t>
            </a:r>
            <a:r>
              <a:rPr dirty="0"/>
              <a:t> &lt;ID&gt; database entries.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3. </a:t>
            </a:r>
            <a:r>
              <a:rPr dirty="0" err="1"/>
              <a:t>check_interface_down</a:t>
            </a:r>
            <a:r>
              <a:rPr dirty="0"/>
              <a:t>(config): Identifies interfaces configured with IP addresses that have shutdown without no shutdown.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4. </a:t>
            </a:r>
            <a:r>
              <a:rPr dirty="0" err="1"/>
              <a:t>check_wrong_mask</a:t>
            </a:r>
            <a:r>
              <a:rPr dirty="0"/>
              <a:t>(config): Flags invalid subnet masks such as 255.255.255.256 or 0.0.0.0 assignments.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5. </a:t>
            </a:r>
            <a:r>
              <a:rPr dirty="0" err="1"/>
              <a:t>check_missing_route</a:t>
            </a:r>
            <a:r>
              <a:rPr dirty="0"/>
              <a:t>(config): Detects </a:t>
            </a:r>
            <a:r>
              <a:rPr dirty="0" err="1"/>
              <a:t>L3</a:t>
            </a:r>
            <a:r>
              <a:rPr dirty="0"/>
              <a:t> interfaces configured without static default gateways or dynamic routing protocols.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A9545B26-5397-D887-B7BA-396C9695487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AI Prompt Engineering &amp; Responsible AI Logging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Prompt Design (</a:t>
            </a:r>
            <a:r>
              <a:rPr dirty="0" err="1"/>
              <a:t>diagnose_prompt.md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Role Definition: Expert Cisco Certified Network Troubleshooter persona.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Input Grounding: Restricts diagnosis strictly to symptoms + show command output to prevent hallucinated assumptions.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Forced JSON Schema: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{</a:t>
            </a:r>
            <a:br>
              <a:rPr dirty="0"/>
            </a:br>
            <a:r>
              <a:rPr dirty="0"/>
              <a:t>    "</a:t>
            </a:r>
            <a:r>
              <a:rPr dirty="0" err="1"/>
              <a:t>root_cause</a:t>
            </a:r>
            <a:r>
              <a:rPr dirty="0"/>
              <a:t>": "...",</a:t>
            </a:r>
            <a:br>
              <a:rPr dirty="0"/>
            </a:br>
            <a:r>
              <a:rPr dirty="0"/>
              <a:t>    "confidence": "</a:t>
            </a:r>
            <a:r>
              <a:rPr dirty="0" err="1"/>
              <a:t>high|medium|low</a:t>
            </a:r>
            <a:r>
              <a:rPr dirty="0"/>
              <a:t>",</a:t>
            </a:r>
            <a:br>
              <a:rPr dirty="0"/>
            </a:br>
            <a:r>
              <a:rPr dirty="0"/>
              <a:t>    "evidence": "quoted show output",</a:t>
            </a:r>
            <a:br>
              <a:rPr dirty="0"/>
            </a:br>
            <a:r>
              <a:rPr dirty="0"/>
              <a:t>    "</a:t>
            </a:r>
            <a:r>
              <a:rPr dirty="0" err="1"/>
              <a:t>next_command</a:t>
            </a:r>
            <a:r>
              <a:rPr dirty="0"/>
              <a:t>": "IOS command",</a:t>
            </a:r>
            <a:br>
              <a:rPr dirty="0"/>
            </a:br>
            <a:r>
              <a:rPr dirty="0"/>
              <a:t>    "</a:t>
            </a:r>
            <a:r>
              <a:rPr dirty="0" err="1"/>
              <a:t>fix_steps</a:t>
            </a:r>
            <a:r>
              <a:rPr dirty="0"/>
              <a:t>": ["</a:t>
            </a:r>
            <a:r>
              <a:rPr dirty="0" err="1"/>
              <a:t>cmd1</a:t>
            </a:r>
            <a:r>
              <a:rPr dirty="0"/>
              <a:t>", "</a:t>
            </a:r>
            <a:r>
              <a:rPr dirty="0" err="1"/>
              <a:t>cmd2</a:t>
            </a:r>
            <a:r>
              <a:rPr dirty="0"/>
              <a:t>"]</a:t>
            </a:r>
            <a:br>
              <a:rPr dirty="0"/>
            </a:br>
            <a:r>
              <a:rPr dirty="0"/>
              <a:t>  }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Few-Shot Examples: Includes worked examples for inter-VLAN routing and NAT inside/outside misconfiguration.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Responsible AI Log (5 Human Corrections)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Case 1 (VLAN Access): AI suspected trunk down; Human reviewer corrected to wrong access VLAN based on show </a:t>
            </a:r>
            <a:r>
              <a:rPr dirty="0" err="1"/>
              <a:t>vlan</a:t>
            </a:r>
            <a:r>
              <a:rPr dirty="0"/>
              <a:t> brief (Rejected).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Case 2 (Subnet Mismatch): AI diagnosed physical link failure; Human corrected to /24 vs /28 mask mismatch (Edited).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Case 3 (Rogue DHCP): AI diagnosed DHCP pool exhaustion; Human recognized rogue server distributing foreign subnet (Rejected).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Case 4 (ACL Implicit Deny): AI blamed NAT failure; Human identified ACL dropping ICMP packets (Edited).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Case 5 (OSPF </a:t>
            </a:r>
            <a:r>
              <a:rPr dirty="0" err="1"/>
              <a:t>EXSTART</a:t>
            </a:r>
            <a:r>
              <a:rPr dirty="0"/>
              <a:t>): AI suggested hello timer mismatch; Human identified </a:t>
            </a:r>
            <a:r>
              <a:rPr dirty="0" err="1"/>
              <a:t>MTU</a:t>
            </a:r>
            <a:r>
              <a:rPr dirty="0"/>
              <a:t> size discrepancy (Rejected).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F047CC8E-9A02-736E-8CE6-07585176916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Lab Demonstration Case Study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Step 1: The Broken State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Topology: PC (192.168.1.10) connected to Cisco 2911 Router (192.168.1.1).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Symptom: PC attempts to ping default gateway (192.168.1.1).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Result: Request timed out (100% packet loss).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Evidence: GigabitEthernet0/0 is administratively down in show ip interface brief.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Step 2: NetSage AI Diagnosis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Execution: python main.py (Live Interactive Mode).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AI Output: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Root Cause: G0/0 is administratively down.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Confidence: High.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Evidence: Status "administratively down".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    - - Fix Steps: configure terminal &gt; interface g0/0 &gt; no shutdown.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Human Review: Accepted by engineer.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Step 3: Fix &amp;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Application: Applied no shutdown on Router G0/0.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State Transition: Interface status changed to up/up, link lights turned green.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Verification: Re-ran ping 192.168.1.1 from PC.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Final Result: 4 packets transmitted, 4 received (0% loss, &lt;1ms latency).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Outcome: Total MTTR reduced from minutes to seconds.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48485502-C56D-72F9-C63A-B577BFF9CA5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Performance Dashboard &amp; Telemetry (dashboard.py)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Key Analytics &amp; Performance Insights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Issue Type Distribution Across 32 Lab Scenarios: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VLAN / Switching: 19% (6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Routing &amp; Dynamic Protocols: 16% (5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DHCP &amp; Gateway Configuration: 25% (8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Security &amp; ACL Filtering: 13% (4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NAT / PAT Translations: 9% (3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Wireless &amp; DNS Services: 18% (6 cases)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AI vs Human Agreement Metrics: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- 60% Directly Accepted without modification.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- 25% Edited with human refinement.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    - - 15% Rejected due to subtle protocol edge-cases.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Proves that AI assists engineers while human oversight prevents flawed configuration pushes.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5778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Figure: Generated matplotlib Dashboard (Issue Distribution &amp; Agreement Rate)</a:t>
            </a: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EF62BF8D-0354-BFA2-1E33-637C3F374C0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CISCO-AICTE VIRTUAL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Tools, Technologies &amp; Internship Learnings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Technology Stack &amp; Frameworks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Programming &amp; Scripting: Python 3.11 for automation pipelines, rule engines, and telemetry.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Generative AI SDK: Google GenAI SDK (google-</a:t>
            </a:r>
            <a:r>
              <a:rPr dirty="0" err="1"/>
              <a:t>genai</a:t>
            </a:r>
            <a:r>
              <a:rPr dirty="0"/>
              <a:t>) utilizing the Gemini 2.5 Flash model.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Parsing &amp; Rule Checking: Python re (Regular Expressions) for Cisco IOS syntax parsing.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Data Handling &amp; Formats: Python csv module for structured 32-case dataset management.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Visualization &amp; UI: Matplotlib for telemetry charts and dual-mode interactive CLI.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Network Simulation: Cisco Packet Tracer 9.0 for topology validation and show command extraction.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182880" rtlCol="0" anchor="ctr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rPr dirty="0"/>
              <a:t> Key Engineering Learnings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1. LLM Integration in Critical Infrastructure: Grounding LLMs with structured prompts and strict schemas prevents hallucinations in production networks.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2. Hybrid AI Architecture: Combining deterministic rule checking with probabilistic LLMs provides speed, cost savings, and deep contextual reasoning.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3. Responsible AI Principles: Practical implementation of human-in-the-loop audit logs for high-stakes decision making.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dirty="0"/>
              <a:t>• 4. Cisco IOS Diagnostic Mastery: Deepened troubleshooting expertise across VLANs, OSPF, </a:t>
            </a:r>
            <a:r>
              <a:rPr dirty="0" err="1"/>
              <a:t>EIGRP</a:t>
            </a:r>
            <a:r>
              <a:rPr dirty="0"/>
              <a:t>, NAT, ACLs, and Subnetting.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51F901EA-2657-9E67-4D59-0864F056DC5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071123" y="197167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0B4D8"/>
                </a:solidFill>
              </a:defRPr>
            </a:pPr>
            <a:r>
              <a:rPr dirty="0" err="1"/>
              <a:t>NetSage</a:t>
            </a:r>
            <a:r>
              <a:rPr dirty="0"/>
              <a:t> AI — AI-Assisted Cisco Network Troubleshooting</a:t>
            </a:r>
          </a:p>
          <a:p>
            <a:pPr algn="ctr">
              <a:spcBef>
                <a:spcPts val="800"/>
              </a:spcBef>
              <a:defRPr sz="1400">
                <a:solidFill>
                  <a:srgbClr val="C8D6E5"/>
                </a:solidFill>
              </a:defRPr>
            </a:pPr>
            <a:r>
              <a:rPr dirty="0"/>
              <a:t>Cisco-</a:t>
            </a:r>
            <a:r>
              <a:rPr dirty="0" err="1"/>
              <a:t>AICTE</a:t>
            </a:r>
            <a:r>
              <a:rPr dirty="0"/>
              <a:t> Virtual Internship Program 2026 | </a:t>
            </a:r>
            <a:r>
              <a:rPr dirty="0" err="1"/>
              <a:t>IILM</a:t>
            </a:r>
            <a:r>
              <a:rPr dirty="0"/>
              <a:t> University</a:t>
            </a:r>
          </a:p>
          <a:p>
            <a:pPr algn="ctr">
              <a:spcBef>
                <a:spcPts val="3000"/>
              </a:spcBef>
              <a:defRPr sz="2600" b="1">
                <a:solidFill>
                  <a:srgbClr val="2ECC71"/>
                </a:solidFill>
              </a:defRPr>
            </a:pPr>
            <a:endParaRPr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52BE58A8-443D-4D4F-9655-E43FB8682FD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179278" y="315154"/>
            <a:ext cx="837984" cy="991553"/>
          </a:xfrm>
          <a:prstGeom prst="rect">
            <a:avLst/>
          </a:prstGeom>
          <a:ln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1990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 kumar singh</dc:creator>
  <cp:keywords/>
  <dc:description>generated using python-pptx</dc:description>
  <cp:lastModifiedBy>krish kumar singh</cp:lastModifiedBy>
  <cp:revision>3</cp:revision>
  <dcterms:created xsi:type="dcterms:W3CDTF">2013-01-27T09:14:16Z</dcterms:created>
  <dcterms:modified xsi:type="dcterms:W3CDTF">2026-08-30T18:49:57Z</dcterms:modified>
  <cp:category/>
</cp:coreProperties>
</file>